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43200625" cx="288004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607">
          <p15:clr>
            <a:srgbClr val="A4A3A4"/>
          </p15:clr>
        </p15:guide>
        <p15:guide id="2" pos="907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607" orient="horz"/>
        <p:guide pos="907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22860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2160880" y="13420305"/>
            <a:ext cx="24478668" cy="9259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4319642" y="24480786"/>
            <a:ext cx="20161144" cy="11039316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2880"/>
              </a:spcBef>
              <a:spcAft>
                <a:spcPts val="0"/>
              </a:spcAft>
              <a:buClr>
                <a:schemeClr val="dk1"/>
              </a:buClr>
              <a:buSzPts val="14399"/>
              <a:buFont typeface="Arial"/>
              <a:buNone/>
              <a:defRPr/>
            </a:lvl1pPr>
            <a:lvl2pPr lvl="1" algn="ctr">
              <a:spcBef>
                <a:spcPts val="2533"/>
              </a:spcBef>
              <a:spcAft>
                <a:spcPts val="0"/>
              </a:spcAft>
              <a:buClr>
                <a:schemeClr val="dk1"/>
              </a:buClr>
              <a:buSzPts val="12665"/>
              <a:buFont typeface="Arial"/>
              <a:buNone/>
              <a:defRPr/>
            </a:lvl2pPr>
            <a:lvl3pPr lvl="2" algn="ctr"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10799"/>
              <a:buFont typeface="Arial"/>
              <a:buNone/>
              <a:defRPr/>
            </a:lvl3pPr>
            <a:lvl4pPr lvl="3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4pPr>
            <a:lvl5pPr lvl="4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5pPr>
            <a:lvl6pPr lvl="5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6pPr>
            <a:lvl7pPr lvl="6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7pPr>
            <a:lvl8pPr lvl="7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8pPr>
            <a:lvl9pPr lvl="8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1439175" y="10080573"/>
            <a:ext cx="25922076" cy="2851047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2275166" y="27761258"/>
            <a:ext cx="24480784" cy="8580021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5333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2275166" y="18309267"/>
            <a:ext cx="24480784" cy="9451991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sz="2666"/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/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1439175" y="10080573"/>
            <a:ext cx="12859449" cy="2851047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/>
            </a:lvl2pPr>
            <a:lvl3pPr indent="-397891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14501801" y="10080573"/>
            <a:ext cx="12859449" cy="2851047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/>
            </a:lvl2pPr>
            <a:lvl3pPr indent="-397891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1439175" y="9669985"/>
            <a:ext cx="12726114" cy="4029689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b="1" sz="2666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1439175" y="13699675"/>
            <a:ext cx="12726114" cy="24891372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397891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–"/>
              <a:defRPr sz="2666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14630904" y="9669985"/>
            <a:ext cx="12730346" cy="4029689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b="1" sz="2666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14630904" y="13699675"/>
            <a:ext cx="12730346" cy="24891372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397891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–"/>
              <a:defRPr sz="2666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1439175" y="1720661"/>
            <a:ext cx="9475273" cy="7318627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666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11259425" y="1720662"/>
            <a:ext cx="16101825" cy="3687038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499491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6"/>
              <a:buFont typeface="Arial"/>
              <a:buChar char="•"/>
              <a:defRPr sz="4266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3pPr>
            <a:lvl4pPr indent="-397891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–"/>
              <a:defRPr sz="2666"/>
            </a:lvl4pPr>
            <a:lvl5pPr indent="-397891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5pPr>
            <a:lvl6pPr indent="-397891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6pPr>
            <a:lvl7pPr indent="-397891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7pPr>
            <a:lvl8pPr indent="-397890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8pPr>
            <a:lvl9pPr indent="-397890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1439175" y="9039287"/>
            <a:ext cx="9475273" cy="29551759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5644529" y="30239601"/>
            <a:ext cx="17280678" cy="3570424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666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644529" y="3860375"/>
            <a:ext cx="17280678" cy="2591996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5644529" y="33810024"/>
            <a:ext cx="17280678" cy="5070974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144977" y="11374771"/>
            <a:ext cx="28510473" cy="25922076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5690032" y="16919828"/>
            <a:ext cx="36861919" cy="6480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7372595" y="10540898"/>
            <a:ext cx="36861919" cy="19238379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439175" y="10080573"/>
            <a:ext cx="25922076" cy="2851047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1142936" lvl="0" marL="457200" marR="0" rtl="0" algn="l">
              <a:spcBef>
                <a:spcPts val="2880"/>
              </a:spcBef>
              <a:spcAft>
                <a:spcPts val="0"/>
              </a:spcAft>
              <a:buClr>
                <a:schemeClr val="dk1"/>
              </a:buClr>
              <a:buSzPts val="14399"/>
              <a:buFont typeface="Arial"/>
              <a:buChar char="•"/>
              <a:defRPr b="0" i="0" sz="14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32827" lvl="1" marL="914400" marR="0" rtl="0" algn="l">
              <a:spcBef>
                <a:spcPts val="2533"/>
              </a:spcBef>
              <a:spcAft>
                <a:spcPts val="0"/>
              </a:spcAft>
              <a:buClr>
                <a:schemeClr val="dk1"/>
              </a:buClr>
              <a:buSzPts val="12665"/>
              <a:buFont typeface="Arial"/>
              <a:buChar char="–"/>
              <a:defRPr b="0" i="0" sz="126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914336" lvl="2" marL="1371600" marR="0" rtl="0" algn="l"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10799"/>
              <a:buFont typeface="Arial"/>
              <a:buChar char="•"/>
              <a:defRPr b="0" i="0" sz="10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04291" lvl="3" marL="18288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–"/>
              <a:defRPr b="0" i="0" sz="9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04291" lvl="4" marL="22860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04291" lvl="5" marL="27432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04291" lvl="6" marL="32004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04291" lvl="7" marL="36576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04291" lvl="8" marL="41148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9.png"/><Relationship Id="rId11" Type="http://schemas.openxmlformats.org/officeDocument/2006/relationships/image" Target="../media/image8.png"/><Relationship Id="rId10" Type="http://schemas.openxmlformats.org/officeDocument/2006/relationships/image" Target="../media/image15.png"/><Relationship Id="rId21" Type="http://schemas.openxmlformats.org/officeDocument/2006/relationships/image" Target="../media/image17.png"/><Relationship Id="rId13" Type="http://schemas.openxmlformats.org/officeDocument/2006/relationships/image" Target="../media/image11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jp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15" Type="http://schemas.openxmlformats.org/officeDocument/2006/relationships/image" Target="../media/image7.png"/><Relationship Id="rId14" Type="http://schemas.openxmlformats.org/officeDocument/2006/relationships/image" Target="../media/image6.png"/><Relationship Id="rId17" Type="http://schemas.openxmlformats.org/officeDocument/2006/relationships/image" Target="../media/image16.png"/><Relationship Id="rId16" Type="http://schemas.openxmlformats.org/officeDocument/2006/relationships/image" Target="../media/image9.png"/><Relationship Id="rId5" Type="http://schemas.openxmlformats.org/officeDocument/2006/relationships/image" Target="../media/image1.png"/><Relationship Id="rId19" Type="http://schemas.openxmlformats.org/officeDocument/2006/relationships/image" Target="../media/image10.png"/><Relationship Id="rId6" Type="http://schemas.openxmlformats.org/officeDocument/2006/relationships/image" Target="../media/image3.png"/><Relationship Id="rId18" Type="http://schemas.openxmlformats.org/officeDocument/2006/relationships/image" Target="../media/image12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40" y="10648"/>
            <a:ext cx="28774945" cy="4317934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/>
          <p:nvPr/>
        </p:nvSpPr>
        <p:spPr>
          <a:xfrm>
            <a:off x="-142821" y="2931759"/>
            <a:ext cx="288003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3700">
                <a:solidFill>
                  <a:schemeClr val="dk1"/>
                </a:solidFill>
              </a:rPr>
              <a:t>André Gregório |  Guilherme Fogolin | Pedro Lemos | Yan Cezareto</a:t>
            </a:r>
            <a:endParaRPr sz="3700"/>
          </a:p>
        </p:txBody>
      </p:sp>
      <p:sp>
        <p:nvSpPr>
          <p:cNvPr id="91" name="Google Shape;91;p13"/>
          <p:cNvSpPr txBox="1"/>
          <p:nvPr/>
        </p:nvSpPr>
        <p:spPr>
          <a:xfrm>
            <a:off x="690522" y="4992304"/>
            <a:ext cx="13284900" cy="58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Sobre a equipe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  Somos estudantes do quarto semestre de </a:t>
            </a:r>
            <a:r>
              <a:rPr b="1" lang="pt-BR" sz="2400">
                <a:solidFill>
                  <a:schemeClr val="dk1"/>
                </a:solidFill>
              </a:rPr>
              <a:t>Ciência da Computação</a:t>
            </a:r>
            <a:r>
              <a:rPr lang="pt-BR" sz="2400">
                <a:solidFill>
                  <a:schemeClr val="dk1"/>
                </a:solidFill>
              </a:rPr>
              <a:t>, buscando construir e aprimorar nossas carreiras na área de tecnologia, com foco em análise de dados. Esse projeto, assim como os outros que já desenvolvemos ao longo dos semestres, nos trazem situações e experiências reais no mundo do trabalho, aprimorando nossos conhecimentos e ofertando a possibilidade de se aprofundar em muitos outros. Com a Money BR trabalhamos com um desenvolvimento </a:t>
            </a:r>
            <a:r>
              <a:rPr b="1" lang="pt-BR" sz="2400">
                <a:solidFill>
                  <a:srgbClr val="007031"/>
                </a:solidFill>
              </a:rPr>
              <a:t>full stack completo</a:t>
            </a:r>
            <a:r>
              <a:rPr lang="pt-BR" sz="2400">
                <a:solidFill>
                  <a:schemeClr val="dk1"/>
                </a:solidFill>
              </a:rPr>
              <a:t> de um </a:t>
            </a:r>
            <a:r>
              <a:rPr b="1" lang="pt-BR" sz="2400">
                <a:solidFill>
                  <a:schemeClr val="dk1"/>
                </a:solidFill>
              </a:rPr>
              <a:t>dashboard online</a:t>
            </a:r>
            <a:r>
              <a:rPr lang="pt-BR" sz="2400">
                <a:solidFill>
                  <a:schemeClr val="dk1"/>
                </a:solidFill>
              </a:rPr>
              <a:t>. Dessa forma, implementamos inúmeros gráficos interativos com Python. Assim, é possível extrair insights significativos sobre os resultados de uma empresa, podendo direcionar com maior assertividade os próximos passos dos negócios. Divididos em diferentes frentes, passando pelo desenvolvimento </a:t>
            </a:r>
            <a:r>
              <a:rPr b="1" lang="pt-BR" sz="2400">
                <a:solidFill>
                  <a:srgbClr val="007031"/>
                </a:solidFill>
              </a:rPr>
              <a:t>frontend</a:t>
            </a:r>
            <a:r>
              <a:rPr lang="pt-BR" sz="2400">
                <a:solidFill>
                  <a:schemeClr val="dk1"/>
                </a:solidFill>
              </a:rPr>
              <a:t> (Guilherme Fogolin e Yan Cezareto), </a:t>
            </a:r>
            <a:r>
              <a:rPr b="1" lang="pt-BR" sz="2400">
                <a:solidFill>
                  <a:schemeClr val="dk1"/>
                </a:solidFill>
              </a:rPr>
              <a:t>backend</a:t>
            </a:r>
            <a:r>
              <a:rPr lang="pt-BR" sz="2400">
                <a:solidFill>
                  <a:schemeClr val="dk1"/>
                </a:solidFill>
              </a:rPr>
              <a:t> (André Gregório e Pedro Lemos) e </a:t>
            </a:r>
            <a:r>
              <a:rPr b="1" lang="pt-BR" sz="2400">
                <a:solidFill>
                  <a:srgbClr val="007031"/>
                </a:solidFill>
              </a:rPr>
              <a:t>tratamento dos dados </a:t>
            </a:r>
            <a:r>
              <a:rPr lang="pt-BR" sz="2400">
                <a:solidFill>
                  <a:schemeClr val="dk1"/>
                </a:solidFill>
              </a:rPr>
              <a:t>(Guilherme Fogolin), chegamos ao nosso projeto final.</a:t>
            </a:r>
            <a:endParaRPr b="0" i="0" sz="266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0" y="-669350"/>
            <a:ext cx="184731" cy="1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99"/>
              <a:buFont typeface="Arial"/>
              <a:buNone/>
            </a:pPr>
            <a:r>
              <a:t/>
            </a:r>
            <a:endParaRPr b="0" i="0" sz="809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 txBox="1"/>
          <p:nvPr>
            <p:ph type="ctrTitle"/>
          </p:nvPr>
        </p:nvSpPr>
        <p:spPr>
          <a:xfrm>
            <a:off x="431675" y="1763075"/>
            <a:ext cx="27924300" cy="10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866"/>
              <a:t>MONEY </a:t>
            </a:r>
            <a:r>
              <a:rPr b="1" lang="pt-BR" sz="5866">
                <a:solidFill>
                  <a:srgbClr val="000000"/>
                </a:solidFill>
              </a:rPr>
              <a:t>BR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1540883" y="288300"/>
            <a:ext cx="25809904" cy="1619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9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Semana de Tecnologia FECAP 2025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653150" y="4992300"/>
            <a:ext cx="13284900" cy="6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Problema a ser tratado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  Segundo uma publicação da IBM, a humanidade gera </a:t>
            </a:r>
            <a:r>
              <a:rPr b="1" lang="pt-BR" sz="2400">
                <a:solidFill>
                  <a:schemeClr val="dk1"/>
                </a:solidFill>
              </a:rPr>
              <a:t>402,74 milhões de terabytes de dados diariamente</a:t>
            </a:r>
            <a:r>
              <a:rPr lang="pt-BR" sz="2400">
                <a:solidFill>
                  <a:schemeClr val="dk1"/>
                </a:solidFill>
              </a:rPr>
              <a:t>. No entanto, muitas vezes, não há objetivos claros e ações eficazes para conseguir extrair informações dessas volumetrias. Logo, entra em cena a </a:t>
            </a:r>
            <a:r>
              <a:rPr b="1" lang="pt-BR" sz="2400">
                <a:solidFill>
                  <a:srgbClr val="007031"/>
                </a:solidFill>
              </a:rPr>
              <a:t>análise de dados </a:t>
            </a:r>
            <a:r>
              <a:rPr lang="pt-BR" sz="2400">
                <a:solidFill>
                  <a:schemeClr val="dk1"/>
                </a:solidFill>
              </a:rPr>
              <a:t>para permitir a tomada de decisões baseada em dados, com as empresas gerando insights e previsões em tempo real, otimizando o desempenho e testando novas estratégias.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  Tendo isso em vista, nasce a Money BR: um projeto que proporciona </a:t>
            </a:r>
            <a:r>
              <a:rPr b="1" lang="pt-BR" sz="2400">
                <a:solidFill>
                  <a:schemeClr val="dk1"/>
                </a:solidFill>
              </a:rPr>
              <a:t>visões executivas</a:t>
            </a:r>
            <a:r>
              <a:rPr lang="pt-BR" sz="2400">
                <a:solidFill>
                  <a:schemeClr val="dk1"/>
                </a:solidFill>
              </a:rPr>
              <a:t> para a Pic Money, empresa parceira da FECAP. Através de quatro bases disponibilizadas, criamos duas grandes divisões: </a:t>
            </a:r>
            <a:r>
              <a:rPr b="1" lang="pt-BR" sz="2400">
                <a:solidFill>
                  <a:srgbClr val="007031"/>
                </a:solidFill>
              </a:rPr>
              <a:t>CEO e CFO</a:t>
            </a:r>
            <a:r>
              <a:rPr lang="pt-BR" sz="2400">
                <a:solidFill>
                  <a:schemeClr val="dk1"/>
                </a:solidFill>
              </a:rPr>
              <a:t>, com atenção aos indicadores gerais da companhia e de modelos financeiros, respectivamente. Nosso principal problema é trazer visões eficazes e que, de fato, proporcionem </a:t>
            </a:r>
            <a:r>
              <a:rPr b="1" lang="pt-BR" sz="2400">
                <a:solidFill>
                  <a:schemeClr val="dk1"/>
                </a:solidFill>
              </a:rPr>
              <a:t>analisar o andamento do negócio</a:t>
            </a:r>
            <a:r>
              <a:rPr lang="pt-BR" sz="2400">
                <a:solidFill>
                  <a:schemeClr val="dk1"/>
                </a:solidFill>
              </a:rPr>
              <a:t>, assegurando que as decisões da alta gestão sejam fundamentadas em dados claros e eficazes.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630353" y="33543418"/>
            <a:ext cx="13318800" cy="68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Solução proposta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  Nossa solução proposta é um </a:t>
            </a:r>
            <a:r>
              <a:rPr b="1" lang="pt-BR" sz="2400">
                <a:solidFill>
                  <a:srgbClr val="007031"/>
                </a:solidFill>
              </a:rPr>
              <a:t>dashboard interativo</a:t>
            </a:r>
            <a:r>
              <a:rPr lang="pt-BR" sz="2400">
                <a:solidFill>
                  <a:schemeClr val="dk1"/>
                </a:solidFill>
              </a:rPr>
              <a:t> construindo com Python e suas bibliotecas de análise de dados: Streamlit, Pandas, NumPy e Plotly. Os executivos têm visões importantes sobre o dia a dia do negócio e, assim, conseguem ter um </a:t>
            </a:r>
            <a:r>
              <a:rPr b="1" lang="pt-BR" sz="2400">
                <a:solidFill>
                  <a:schemeClr val="dk1"/>
                </a:solidFill>
              </a:rPr>
              <a:t>histórico das atividades</a:t>
            </a:r>
            <a:r>
              <a:rPr lang="pt-BR" sz="2400">
                <a:solidFill>
                  <a:schemeClr val="dk1"/>
                </a:solidFill>
              </a:rPr>
              <a:t> da empresa. Implementamos diferentes seções com, por exemplo, lojas com maior número de transações, divisão de uso por idade e sexo, faixa de horários com maior movimentação, endereço dos clientes e locais que mais frequentam, ticket médio e margem operacional. E, à vista disso, possibilitando </a:t>
            </a:r>
            <a:r>
              <a:rPr b="1" lang="pt-BR" sz="2400">
                <a:solidFill>
                  <a:srgbClr val="007031"/>
                </a:solidFill>
              </a:rPr>
              <a:t>extrair insights </a:t>
            </a:r>
            <a:r>
              <a:rPr lang="pt-BR" sz="2400">
                <a:solidFill>
                  <a:schemeClr val="dk1"/>
                </a:solidFill>
              </a:rPr>
              <a:t>em tempo hábil. Além disso, implementamos a extração de relatórios em PDF, permitindo a análise das informações com maior tempestividade.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  Para tal, passamos pela </a:t>
            </a:r>
            <a:r>
              <a:rPr b="1" lang="pt-BR" sz="2400">
                <a:solidFill>
                  <a:schemeClr val="dk1"/>
                </a:solidFill>
              </a:rPr>
              <a:t>definição dos objetivos</a:t>
            </a:r>
            <a:r>
              <a:rPr lang="pt-BR" sz="2400">
                <a:solidFill>
                  <a:schemeClr val="dk1"/>
                </a:solidFill>
              </a:rPr>
              <a:t>, organização, exploração, limpeza e preparação dos dados, com foco em uma </a:t>
            </a:r>
            <a:r>
              <a:rPr b="1" lang="pt-BR" sz="2400">
                <a:solidFill>
                  <a:srgbClr val="007031"/>
                </a:solidFill>
              </a:rPr>
              <a:t>análise exploratória</a:t>
            </a:r>
            <a:r>
              <a:rPr lang="pt-BR" sz="2400">
                <a:solidFill>
                  <a:schemeClr val="dk1"/>
                </a:solidFill>
              </a:rPr>
              <a:t>, identificando novos segmentos de mercado, explorando a demografia dos usuários e descobrindo correlações inesperadas.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66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-538985" y="3332172"/>
            <a:ext cx="29592600" cy="13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66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Professores: </a:t>
            </a:r>
            <a:r>
              <a:rPr b="1" lang="pt-BR" sz="2666">
                <a:solidFill>
                  <a:schemeClr val="dk2"/>
                </a:solidFill>
              </a:rPr>
              <a:t>Eduardo Savino Gomes | Lucy Mari Tabuti | Mauricio Lopes Da Cunha | Rodnil da Silva Moreira Lisboa.</a:t>
            </a:r>
            <a:endParaRPr b="1" i="0" sz="5866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14646784" y="33543418"/>
            <a:ext cx="13318800" cy="6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Futuro do projeto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  Considerando que a própria empresa parceira não está lançada no mercado, nossos dados são todos simulados. Logo, um primeiro passo importante ao futuro da Money BR seria conectar nossas bases aos </a:t>
            </a:r>
            <a:r>
              <a:rPr b="1" lang="pt-BR" sz="2400">
                <a:solidFill>
                  <a:schemeClr val="dk1"/>
                </a:solidFill>
              </a:rPr>
              <a:t>dados reais </a:t>
            </a:r>
            <a:r>
              <a:rPr lang="pt-BR" sz="2400">
                <a:solidFill>
                  <a:schemeClr val="dk1"/>
                </a:solidFill>
              </a:rPr>
              <a:t>capturados pela Pic Money. Dessa forma, teríamos uma melhora na compreensão das informações e um histórico mais completo, já que atualmente temos dados de apenas um mês específico.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  Para mais, seria indispensável a implementação de</a:t>
            </a:r>
            <a:r>
              <a:rPr b="1" lang="pt-BR" sz="2400">
                <a:solidFill>
                  <a:srgbClr val="007031"/>
                </a:solidFill>
              </a:rPr>
              <a:t> inteligência artificial e modelos de ciência de dados </a:t>
            </a:r>
            <a:r>
              <a:rPr lang="pt-BR" sz="2400">
                <a:solidFill>
                  <a:schemeClr val="dk1"/>
                </a:solidFill>
              </a:rPr>
              <a:t>que proporcionasse uma análise mais criteriosa e observações mais detalhadas sobre o andamento do negócio. Assim, seria possível </a:t>
            </a:r>
            <a:r>
              <a:rPr b="1" lang="pt-BR" sz="2400">
                <a:solidFill>
                  <a:schemeClr val="dk1"/>
                </a:solidFill>
              </a:rPr>
              <a:t>análises preditivas e diagnósticas</a:t>
            </a:r>
            <a:r>
              <a:rPr lang="pt-BR" sz="2400">
                <a:solidFill>
                  <a:schemeClr val="dk1"/>
                </a:solidFill>
              </a:rPr>
              <a:t>, explicando o motivo de determinados eventos terem acontecido e a previsão de tendências ou resultados futuros com base em dados históricos.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  Por fim, pensando em evolução, a </a:t>
            </a:r>
            <a:r>
              <a:rPr b="1" lang="pt-BR" sz="2400">
                <a:solidFill>
                  <a:srgbClr val="007031"/>
                </a:solidFill>
              </a:rPr>
              <a:t>computação em nuvem</a:t>
            </a:r>
            <a:r>
              <a:rPr lang="pt-BR" sz="2400">
                <a:solidFill>
                  <a:schemeClr val="dk1"/>
                </a:solidFill>
              </a:rPr>
              <a:t> como AWS, GCP e Azure seriam de extrema importância, devido à sua capacidade de oferecer escalabilidade elástica, processamento sob demanda e um ecossistema completo de ferramentas gerenciadas. E, com isso, se faz </a:t>
            </a:r>
            <a:r>
              <a:rPr b="1" lang="pt-BR" sz="2400">
                <a:solidFill>
                  <a:schemeClr val="dk1"/>
                </a:solidFill>
              </a:rPr>
              <a:t>análise de grandes volumetrias de dados</a:t>
            </a:r>
            <a:r>
              <a:rPr lang="pt-BR" sz="2400">
                <a:solidFill>
                  <a:schemeClr val="dk1"/>
                </a:solidFill>
              </a:rPr>
              <a:t>, que garante eficiência de custos e a agilidade necessária para obter insights em tempo real.</a:t>
            </a:r>
            <a:endParaRPr b="0" i="0" sz="266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8011419" y="11684186"/>
            <a:ext cx="12868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Imagens e ferramentas do </a:t>
            </a:r>
            <a:r>
              <a:rPr b="1" lang="pt-BR" sz="5866">
                <a:solidFill>
                  <a:schemeClr val="dk1"/>
                </a:solidFill>
              </a:rPr>
              <a:t>p</a:t>
            </a:r>
            <a:r>
              <a:rPr b="1" i="0" lang="pt-BR" sz="5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rojeto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6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pic>
        <p:nvPicPr>
          <p:cNvPr descr="Uma imagem contendo óculos&#10;&#10;O conteúdo gerado por IA pode estar incorreto." id="100" name="Google Shape;10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752" y="40356014"/>
            <a:ext cx="3095947" cy="31152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óculos, caneca&#10;&#10;O conteúdo gerado por IA pode estar incorreto." id="101" name="Google Shape;10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801752" y="40382747"/>
            <a:ext cx="3095945" cy="3105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, Ícone&#10;&#10;O conteúdo gerado por IA pode estar incorreto." id="102" name="Google Shape;10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197900" y="28863505"/>
            <a:ext cx="2390002" cy="23900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O conteúdo gerado por IA pode estar incorreto." id="103" name="Google Shape;10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375857" y="28809284"/>
            <a:ext cx="1678276" cy="2369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Ícone&#10;&#10;O conteúdo gerado por IA pode estar incorreto." id="104" name="Google Shape;104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86038" y="28904163"/>
            <a:ext cx="2748125" cy="22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4225" y="28969250"/>
            <a:ext cx="2070125" cy="207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345639" y="28809288"/>
            <a:ext cx="2390000" cy="239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2169575" y="31479150"/>
            <a:ext cx="4876800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833525" y="31421662"/>
            <a:ext cx="4681150" cy="1899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145563" y="31479150"/>
            <a:ext cx="5629076" cy="168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5927123" y="31457961"/>
            <a:ext cx="5629073" cy="1880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3"/>
          <p:cNvPicPr preferRelativeResize="0"/>
          <p:nvPr/>
        </p:nvPicPr>
        <p:blipFill rotWithShape="1">
          <a:blip r:embed="rId15">
            <a:alphaModFix/>
          </a:blip>
          <a:srcRect b="17270" l="16876" r="17120" t="18647"/>
          <a:stretch/>
        </p:blipFill>
        <p:spPr>
          <a:xfrm>
            <a:off x="24842100" y="29077838"/>
            <a:ext cx="3095949" cy="1852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3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2747112" y="28969225"/>
            <a:ext cx="2671130" cy="207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3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74237" y="20620500"/>
            <a:ext cx="13517476" cy="8005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3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4448850" y="20620525"/>
            <a:ext cx="13693502" cy="800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3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239550" y="23237000"/>
            <a:ext cx="12709601" cy="5196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3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4547425" y="13993538"/>
            <a:ext cx="13517501" cy="5887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3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574225" y="13993525"/>
            <a:ext cx="13517501" cy="5887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